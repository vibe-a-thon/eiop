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57200" y="329184"/>
            <a:ext cx="11277600" cy="13716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/>
          <a:lstStyle/>
          <a:p>
            <a:r>
              <a:rPr lang="en-US" sz="3800" b="1"/>
              <a:t>EOIP Core MVP is locally implemented</a:t>
            </a:r>
          </a:p>
          <a:p>
            <a:r>
              <a:rPr lang="en-US" sz="3800"/>
              <a:t>Core FR P1-MVP closure package | 2026-10-04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100000"/>
            <a:ext cx="5170000" cy="265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200" b="1"/>
              <a:t>Implementation closure</a:t>
            </a:r>
          </a:p>
          <a:p>
            <a:r>
              <a:rPr lang="en-US" sz="2200"/>
              <a:t>28/28 MVP functional requirements marked Done</a:t>
            </a:r>
          </a:p>
          <a:p>
            <a:r>
              <a:rPr lang="en-US" sz="2200"/>
              <a:t>62/62 Core FR P1-MVP requirements marked Done</a:t>
            </a:r>
          </a:p>
          <a:p>
            <a:r>
              <a:rPr lang="en-US" sz="2200"/>
              <a:t>14/14 P1 NFR rows covered by automated evidence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000" y="2100000"/>
            <a:ext cx="5330000" cy="2650000"/>
          </a:xfrm>
          <a:prstGeom prst="rect">
            <a:avLst/>
          </a:prstGeom>
          <a:solidFill>
            <a:srgbClr val="EAF5FB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200" b="1"/>
              <a:t>Bounded release statement</a:t>
            </a:r>
          </a:p>
          <a:p>
            <a:r>
              <a:rPr lang="en-US" sz="2200"/>
              <a:t>Local code, tests, reports and demo artifacts are synchronized.</a:t>
            </a:r>
          </a:p>
          <a:p>
            <a:r>
              <a:rPr lang="en-US" sz="2200"/>
              <a:t>Remote CI, live deployment checks and independent review remain separate gates.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57200" y="329184"/>
            <a:ext cx="11277600" cy="13716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/>
          <a:lstStyle/>
          <a:p>
            <a:r>
              <a:rPr lang="en-US" sz="3800" b="1"/>
              <a:t>The demo exercises the MVP work graph end to end</a:t>
            </a:r>
          </a:p>
          <a:p>
            <a:r>
              <a:rPr lang="en-US" sz="3800"/>
              <a:t>Manual fixtures, pipeline fixtures and autodemo runs cover multiple tenants and source systems.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950000"/>
            <a:ext cx="3300000" cy="31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050" b="1"/>
              <a:t>Scenario data</a:t>
            </a:r>
          </a:p>
          <a:p>
            <a:r>
              <a:rPr lang="en-US" sz="2050"/>
              <a:t>Jira, GitLab, code graph and enterprise fixtures model realistic projects, users and cross-domain evidence.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380000" y="1950000"/>
            <a:ext cx="3300000" cy="31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050" b="1"/>
              <a:t>Pipeline path</a:t>
            </a:r>
          </a:p>
          <a:p>
            <a:r>
              <a:rPr lang="en-US" sz="2050"/>
              <a:t>Pipeline-ready JSON fixtures drive ingestion and validation without requiring live external systems.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00000" y="1950000"/>
            <a:ext cx="3300000" cy="31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050" b="1"/>
              <a:t>Autodemo path</a:t>
            </a:r>
          </a:p>
          <a:p>
            <a:r>
              <a:rPr lang="en-US" sz="2050"/>
              <a:t>The runner validates loading, graph metrics, evidence coverage, golden-path traversal and dry-run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57200" y="329184"/>
            <a:ext cx="11277600" cy="13716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/>
          <a:lstStyle/>
          <a:p>
            <a:r>
              <a:rPr lang="en-US" sz="3800" b="1"/>
              <a:t>Acceptance evidence is now source-bound locally</a:t>
            </a:r>
          </a:p>
          <a:p>
            <a:r>
              <a:rPr lang="en-US" sz="3800"/>
              <a:t>The latest local receipts close the active MVP gap report items without claiming production release approval.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040000"/>
            <a:ext cx="2500000" cy="2500000"/>
          </a:xfrm>
          <a:prstGeom prst="rect">
            <a:avLst/>
          </a:prstGeom>
          <a:solidFill>
            <a:srgbClr val="EAF5FB"/>
          </a:solidFill>
          <a:ln>
            <a:solidFill>
              <a:srgbClr val="3D8DFF"/>
            </a:solidFill>
          </a:ln>
        </p:spPr>
        <p:txBody>
          <a:bodyPr wrap="square"/>
          <a:lstStyle/>
          <a:p>
            <a:r>
              <a:rPr lang="en-US" sz="2500" b="1"/>
              <a:t>62/62</a:t>
            </a:r>
          </a:p>
          <a:p>
            <a:r>
              <a:rPr lang="en-US" sz="2500"/>
              <a:t>Core FR P1-MVP Done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300000" y="2040000"/>
            <a:ext cx="2500000" cy="25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500" b="1"/>
              <a:t>14/14</a:t>
            </a:r>
          </a:p>
          <a:p>
            <a:r>
              <a:rPr lang="en-US" sz="2500"/>
              <a:t>P1 NFR rows Done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140000" y="2040000"/>
            <a:ext cx="2500000" cy="25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500" b="1"/>
              <a:t>4/4</a:t>
            </a:r>
          </a:p>
          <a:p>
            <a:r>
              <a:rPr lang="en-US" sz="2500"/>
              <a:t>Demo artifact groups Done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980000" y="2040000"/>
            <a:ext cx="2500000" cy="2500000"/>
          </a:xfrm>
          <a:prstGeom prst="rect">
            <a:avLst/>
          </a:prstGeom>
          <a:solidFill>
            <a:srgbClr val="EAF5FB"/>
          </a:solidFill>
          <a:ln>
            <a:solidFill>
              <a:srgbClr val="3D8DFF"/>
            </a:solidFill>
          </a:ln>
        </p:spPr>
        <p:txBody>
          <a:bodyPr wrap="square"/>
          <a:lstStyle/>
          <a:p>
            <a:r>
              <a:rPr lang="en-US" sz="2500" b="1"/>
              <a:t>1,207</a:t>
            </a:r>
          </a:p>
          <a:p>
            <a:r>
              <a:rPr lang="en-US" sz="2500"/>
              <a:t>Full regression outcomes, zero failures/errors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57200" y="329184"/>
            <a:ext cx="11277600" cy="13716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/>
          <a:lstStyle/>
          <a:p>
            <a:r>
              <a:rPr lang="en-US" sz="3800" b="1"/>
              <a:t>Verification receipts are reproducible from the repo</a:t>
            </a:r>
          </a:p>
          <a:p>
            <a:r>
              <a:rPr lang="en-US" sz="3800"/>
              <a:t>These commands and receipts are recorded in the MVP report JSON and coordination handoff.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800000"/>
            <a:ext cx="10700000" cy="39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1900" b="1"/>
              <a:t>Receipt map</a:t>
            </a:r>
          </a:p>
          <a:p>
            <a:r>
              <a:rPr lang="en-US" sz="1900"/>
              <a:t>Active-gap tests: 23 passed in security, e2e and performance files.</a:t>
            </a:r>
          </a:p>
          <a:p>
            <a:r>
              <a:rPr lang="en-US" sz="1900"/>
              <a:t>Autodemo: test-results/autodemo-current.json, 10/10 passed.</a:t>
            </a:r>
          </a:p>
          <a:p>
            <a:r>
              <a:rPr lang="en-US" sz="1900"/>
              <a:t>VS Code extension host: extension-host-dca6d363...json, 4/4 passed.</a:t>
            </a:r>
          </a:p>
          <a:p>
            <a:r>
              <a:rPr lang="en-US" sz="1900"/>
              <a:t>Full regression: audit-source-bound-validation.json, PASS; audit-full-regression.xml, 1,207 outcomes.</a:t>
            </a:r>
          </a:p>
          <a:p>
            <a:r>
              <a:rPr lang="en-US" sz="1900"/>
              <a:t>Web build: npm --prefix apps\web run build, exit 0 with chunk-size warning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57200" y="329184"/>
            <a:ext cx="11277600" cy="13716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/>
          <a:lstStyle/>
          <a:p>
            <a:r>
              <a:rPr lang="en-US" sz="3800" b="1"/>
              <a:t>Release gates stay explicit</a:t>
            </a:r>
          </a:p>
          <a:p>
            <a:r>
              <a:rPr lang="en-US" sz="3800"/>
              <a:t>The implementation work is locally closed; release certification still needs external evidence.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850000"/>
            <a:ext cx="5200000" cy="3400000"/>
          </a:xfrm>
          <a:prstGeom prst="rect">
            <a:avLst/>
          </a:prstGeom>
          <a:solidFill>
            <a:srgbClr val="F2F2F2"/>
          </a:solidFill>
          <a:ln>
            <a:solidFill>
              <a:srgbClr val="B8BCC4"/>
            </a:solidFill>
          </a:ln>
        </p:spPr>
        <p:txBody>
          <a:bodyPr wrap="square"/>
          <a:lstStyle/>
          <a:p>
            <a:r>
              <a:rPr lang="en-US" sz="2150" b="1"/>
              <a:t>Still pending</a:t>
            </a:r>
          </a:p>
          <a:p>
            <a:r>
              <a:rPr lang="en-US" sz="2150"/>
              <a:t>Remote CI observation</a:t>
            </a:r>
          </a:p>
          <a:p>
            <a:r>
              <a:rPr lang="en-US" sz="2150"/>
              <a:t>Independent QA/risk review</a:t>
            </a:r>
          </a:p>
          <a:p>
            <a:r>
              <a:rPr lang="en-US" sz="2150"/>
              <a:t>Live Docker/API/web/model verification when authorized</a:t>
            </a:r>
          </a:p>
          <a:p>
            <a:r>
              <a:rPr lang="en-US" sz="2150"/>
              <a:t>Commit, push and PR publication approval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000" y="1850000"/>
            <a:ext cx="5200000" cy="3400000"/>
          </a:xfrm>
          <a:prstGeom prst="rect">
            <a:avLst/>
          </a:prstGeom>
          <a:solidFill>
            <a:srgbClr val="EAF5FB"/>
          </a:solidFill>
          <a:ln>
            <a:solidFill>
              <a:srgbClr val="3D8DFF"/>
            </a:solidFill>
          </a:ln>
        </p:spPr>
        <p:txBody>
          <a:bodyPr wrap="square"/>
          <a:lstStyle/>
          <a:p>
            <a:r>
              <a:rPr lang="en-US" sz="2150" b="1"/>
              <a:t>Boundary to preserve</a:t>
            </a:r>
          </a:p>
          <a:p>
            <a:r>
              <a:rPr lang="en-US" sz="2150"/>
              <a:t>No shared deployment, reset, commit, push or PR was performed in this pass.</a:t>
            </a:r>
          </a:p>
          <a:p>
            <a:r>
              <a:rPr lang="en-US" sz="2150"/>
              <a:t>The two KGR excluded files remain out of audit scope.</a:t>
            </a:r>
          </a:p>
          <a:p>
            <a:r>
              <a:rPr lang="en-US" sz="2150"/>
              <a:t>Fixture-backed proof is labelled separately from live-source acceptance.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OIP Local Demo">
  <a:themeElements>
    <a:clrScheme name="EOIP">
      <a:dk1>
        <a:srgbClr val="000000"/>
      </a:dk1>
      <a:lt1>
        <a:srgbClr val="FFFFFF"/>
      </a:lt1>
      <a:dk2>
        <a:srgbClr val="1F2937"/>
      </a:dk2>
      <a:lt2>
        <a:srgbClr val="F2F2F2"/>
      </a:lt2>
      <a:accent1>
        <a:srgbClr val="3D8DFF"/>
      </a:accent1>
      <a:accent2>
        <a:srgbClr val="6DCBF4"/>
      </a:accent2>
      <a:accent3>
        <a:srgbClr val="B8BCC4"/>
      </a:accent3>
      <a:accent4>
        <a:srgbClr val="EAF5FB"/>
      </a:accent4>
      <a:accent5>
        <a:srgbClr val="111827"/>
      </a:accent5>
      <a:accent6>
        <a:srgbClr val="6B7280"/>
      </a:accent6>
      <a:hlink>
        <a:srgbClr val="3D8DFF"/>
      </a:hlink>
      <a:folHlink>
        <a:srgbClr val="3D8DFF"/>
      </a:folHlink>
    </a:clrScheme>
    <a:fontScheme name="EOIP">
      <a:majorFont>
        <a:latin typeface="Arial"/>
      </a:majorFont>
      <a:minorFont>
        <a:latin typeface="Arial"/>
      </a:minorFont>
    </a:fontScheme>
    <a:fmtScheme name="EOIP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EOIP Core MVP Demo</dc:title>
  <dc:creator>Codex</dc:creator>
  <cp:lastModifiedBy>Codex</cp:lastModifiedBy>
  <dcterms:created xsi:type="dcterms:W3CDTF">2026-10-04T09:24:40Z</dcterms:created>
  <dcterms:modified xsi:type="dcterms:W3CDTF">2026-10-04T09:24:40Z</dcterms:modified>
</cp:coreProperties>
</file>