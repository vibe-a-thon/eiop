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1A73E8"/>
                </a:solidFill>
              </a:defRPr>
            </a:pPr>
            <a:r>
              <a:t>MFS Platform Overview</a:t>
            </a:r>
          </a:p>
          <a:p>
            <a:pPr algn="ctr">
              <a:defRPr sz="2400">
                <a:solidFill>
                  <a:srgbClr val="5F6368"/>
                </a:solidFill>
              </a:defRPr>
            </a:pPr>
            <a:r>
              <a:t>Q4 2026 — Meridian Financial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</a:p>
          <a:p>
            <a:r>
              <a:t>Platform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A73E8"/>
                </a:solidFill>
              </a:defRPr>
            </a:pPr>
            <a:r>
              <a:t>2.5M</a:t>
            </a:r>
          </a:p>
          <a:p>
            <a:pPr algn="ctr">
              <a:defRPr sz="1600"/>
            </a:pPr>
            <a:r>
              <a:t>Daily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A73E8"/>
                </a:solidFill>
              </a:defRPr>
            </a:pPr>
            <a:r>
              <a:t>99.95%</a:t>
            </a:r>
          </a:p>
          <a:p>
            <a:pPr algn="ctr">
              <a:defRPr sz="1600"/>
            </a:pPr>
            <a:r>
              <a:t>Payment Gateway SLO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A73E8"/>
                </a:solidFill>
              </a:defRPr>
            </a:pPr>
            <a:r>
              <a:t>35ms</a:t>
            </a:r>
          </a:p>
          <a:p>
            <a:pPr algn="ctr">
              <a:defRPr sz="1600"/>
            </a:pPr>
            <a:r>
              <a:t>Fraud Score P99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A73E8"/>
                </a:solidFill>
              </a:defRPr>
            </a:pPr>
            <a:r>
              <a:t>12</a:t>
            </a:r>
          </a:p>
          <a:p>
            <a:pPr algn="ctr">
              <a:defRPr sz="1600"/>
            </a:pPr>
            <a:r>
              <a:t>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657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A73E8"/>
                </a:solidFill>
              </a:defRPr>
            </a:pPr>
            <a:r>
              <a:t>18</a:t>
            </a:r>
          </a:p>
          <a:p>
            <a:pPr algn="ctr">
              <a:defRPr sz="1600"/>
            </a:pPr>
            <a:r>
              <a:t>OpenShift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657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A73E8"/>
                </a:solidFill>
              </a:defRPr>
            </a:pPr>
            <a:r>
              <a:t>3</a:t>
            </a:r>
          </a:p>
          <a:p>
            <a:pPr algn="ctr">
              <a:defRPr sz="1600"/>
            </a:pPr>
            <a:r>
              <a:t>PostgreSQL Clusters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</a:p>
          <a:p>
            <a:r>
              <a:t>Architecture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1A73E8"/>
                </a:solidFill>
              </a:defRPr>
            </a:pPr>
            <a:r>
              <a:t>Payment Gateway (PAY)</a:t>
            </a:r>
          </a:p>
          <a:p>
            <a:pPr>
              <a:spcBef>
                <a:spcPts val="1200"/>
              </a:spcBef>
              <a:defRPr sz="1400"/>
            </a:pPr>
            <a:r>
              <a:t>Transaction processing, tokenization,</a:t>
            </a:r>
            <a:br/>
            <a:r>
              <a:t>webhook notifications, settlement,</a:t>
            </a:r>
            <a:br/>
            <a:r>
              <a:t>analytics &amp;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64592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1A73E8"/>
                </a:solidFill>
              </a:defRPr>
            </a:pPr>
            <a:r>
              <a:t>Fraud Detection (FRD)</a:t>
            </a:r>
          </a:p>
          <a:p>
            <a:pPr>
              <a:spcBef>
                <a:spcPts val="1200"/>
              </a:spcBef>
              <a:defRPr sz="1400"/>
            </a:pPr>
            <a:r>
              <a:t>ML fraud scoring, velocity monitoring,</a:t>
            </a:r>
            <a:br/>
            <a:r>
              <a:t>anomaly detection, AML compliance,</a:t>
            </a:r>
            <a:br/>
            <a:r>
              <a:t>KYC verification, case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645920"/>
            <a:ext cx="34747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1A73E8"/>
                </a:solidFill>
              </a:defRPr>
            </a:pPr>
            <a:r>
              <a:t>Shared Platform</a:t>
            </a:r>
          </a:p>
          <a:p>
            <a:pPr>
              <a:spcBef>
                <a:spcPts val="1200"/>
              </a:spcBef>
              <a:defRPr sz="1400"/>
            </a:pPr>
            <a:r>
              <a:t>Common libraries, API gateway,</a:t>
            </a:r>
            <a:br/>
            <a:r>
              <a:t>customer portal, observability,</a:t>
            </a:r>
            <a:br/>
            <a:r>
              <a:t>CI/CD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</a:p>
          <a:p>
            <a:r>
              <a:t>Q4 2026 Key Initiatives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EPC-101: Payment Gateway v2 — Webhook notifications, analytics,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EPC-104: Merchant Integration Platform — Webhook API, analytics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EPC-201: Fraud Detection ML Platform — Model versioning, A/B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EPC-202: Transaction Monitoring — Velocity checks,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EPC-203: AML Compliance Engine — Pattern detection, SAR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EPC-204: Identity Verification — KYC document verification, liveness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</a:p>
          <a:p>
            <a:r>
              <a:t>Risk &amp; Compliance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PCI DSS v4.0: 94% compliant (2 remediation items pending)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SOX Controls: All financial reporting controls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Service Accounts: 11 production accounts, all following least-privilege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Secrets Rotation: 90-day policy enforced via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Open Incidents: 1 active (INC0080201 — ML model false positive spike)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Open Problems: 2 (PRB0010001 — DB connection leaks, PRB0020001 — ML model drift)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